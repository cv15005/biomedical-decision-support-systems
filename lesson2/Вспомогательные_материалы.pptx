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25.jpg" ContentType="image/jpeg"/>
  <Override PartName="/ppt/media/image26.jpg" ContentType="image/jpe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28.jpg" ContentType="image/jpe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30.jpg" ContentType="image/jpeg"/>
  <Override PartName="/ppt/media/image31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319" r:id="rId4"/>
    <p:sldId id="320" r:id="rId5"/>
    <p:sldId id="322" r:id="rId6"/>
    <p:sldId id="323" r:id="rId7"/>
    <p:sldId id="296" r:id="rId8"/>
    <p:sldId id="345" r:id="rId9"/>
    <p:sldId id="346" r:id="rId10"/>
    <p:sldId id="362" r:id="rId11"/>
    <p:sldId id="363" r:id="rId12"/>
    <p:sldId id="364" r:id="rId13"/>
    <p:sldId id="365" r:id="rId14"/>
    <p:sldId id="318" r:id="rId15"/>
  </p:sldIdLst>
  <p:sldSz cx="20104100" cy="11150600"/>
  <p:notesSz cx="20104100" cy="11150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89" autoAdjust="0"/>
  </p:normalViewPr>
  <p:slideViewPr>
    <p:cSldViewPr>
      <p:cViewPr varScale="1">
        <p:scale>
          <a:sx n="39" d="100"/>
          <a:sy n="39" d="100"/>
        </p:scale>
        <p:origin x="716" y="3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588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588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ACE70F-70E5-41BC-B8AC-650C6457BF3D}" type="datetimeFigureOut">
              <a:rPr lang="ru-RU" smtClean="0"/>
              <a:t>28.02.2025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393825"/>
            <a:ext cx="6784975" cy="37639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2009775" y="5365750"/>
            <a:ext cx="16084550" cy="4391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591800"/>
            <a:ext cx="8712200" cy="5588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11387138" y="10591800"/>
            <a:ext cx="8712200" cy="5588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D1587-03D7-45F0-8CD2-0617C8894A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0730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64c114621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8138" y="685800"/>
            <a:ext cx="6181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64c114621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690171b87_0_6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8138" y="685800"/>
            <a:ext cx="6181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3690171b87_0_6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690171b87_0_6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8138" y="685800"/>
            <a:ext cx="6181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3690171b87_0_6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3690171b87_0_8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8138" y="685800"/>
            <a:ext cx="6181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3690171b87_0_8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690171b87_0_8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8138" y="685800"/>
            <a:ext cx="6181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3690171b87_0_8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3690171b87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8138" y="685800"/>
            <a:ext cx="6181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3690171b87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3698da8a47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8138" y="685800"/>
            <a:ext cx="6181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3698da8a47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14486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61311" y="3541222"/>
            <a:ext cx="13581477" cy="2205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0" i="0">
                <a:solidFill>
                  <a:srgbClr val="0071B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244336"/>
            <a:ext cx="14072870" cy="2787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92C5EB"/>
                </a:solidFill>
                <a:latin typeface="Segoe UI"/>
                <a:cs typeface="Segoe UI"/>
              </a:defRPr>
            </a:lvl1pPr>
          </a:lstStyle>
          <a:p>
            <a:pPr marL="205104">
              <a:lnSpc>
                <a:spcPct val="100000"/>
              </a:lnSpc>
              <a:spcBef>
                <a:spcPts val="3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0" i="0">
                <a:solidFill>
                  <a:srgbClr val="0071B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92C5EB"/>
                </a:solidFill>
                <a:latin typeface="Segoe UI"/>
                <a:cs typeface="Segoe UI"/>
              </a:defRPr>
            </a:lvl1pPr>
          </a:lstStyle>
          <a:p>
            <a:pPr marL="205104">
              <a:lnSpc>
                <a:spcPct val="100000"/>
              </a:lnSpc>
              <a:spcBef>
                <a:spcPts val="3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42795" y="1840966"/>
            <a:ext cx="8914873" cy="594341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47590" y="2373443"/>
            <a:ext cx="3844978" cy="62122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4634" y="5766436"/>
            <a:ext cx="8296733" cy="526336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69625" y="7914940"/>
            <a:ext cx="4511613" cy="291104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0" i="0">
                <a:solidFill>
                  <a:srgbClr val="0071B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564638"/>
            <a:ext cx="8745284" cy="73593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564638"/>
            <a:ext cx="8745284" cy="73593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92C5EB"/>
                </a:solidFill>
                <a:latin typeface="Segoe UI"/>
                <a:cs typeface="Segoe UI"/>
              </a:defRPr>
            </a:lvl1pPr>
          </a:lstStyle>
          <a:p>
            <a:pPr marL="205104">
              <a:lnSpc>
                <a:spcPct val="100000"/>
              </a:lnSpc>
              <a:spcBef>
                <a:spcPts val="3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0" i="0">
                <a:solidFill>
                  <a:srgbClr val="0071B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92C5EB"/>
                </a:solidFill>
                <a:latin typeface="Segoe UI"/>
                <a:cs typeface="Segoe UI"/>
              </a:defRPr>
            </a:lvl1pPr>
          </a:lstStyle>
          <a:p>
            <a:pPr marL="205104">
              <a:lnSpc>
                <a:spcPct val="100000"/>
              </a:lnSpc>
              <a:spcBef>
                <a:spcPts val="3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92C5EB"/>
                </a:solidFill>
                <a:latin typeface="Segoe UI"/>
                <a:cs typeface="Segoe UI"/>
              </a:defRPr>
            </a:lvl1pPr>
          </a:lstStyle>
          <a:p>
            <a:pPr marL="205104">
              <a:lnSpc>
                <a:spcPct val="100000"/>
              </a:lnSpc>
              <a:spcBef>
                <a:spcPts val="3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DBD17F-B6F7-D2D0-3630-012BD3FEF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4205760"/>
            <a:ext cx="15078075" cy="1501180"/>
          </a:xfrm>
        </p:spPr>
        <p:txBody>
          <a:bodyPr anchor="b"/>
          <a:lstStyle>
            <a:lvl1pPr algn="ctr">
              <a:defRPr sz="9755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D8DA831-5D8D-D37F-C5AD-F9F1A98ED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856647"/>
            <a:ext cx="15078075" cy="600485"/>
          </a:xfrm>
        </p:spPr>
        <p:txBody>
          <a:bodyPr/>
          <a:lstStyle>
            <a:lvl1pPr marL="0" indent="0" algn="ctr">
              <a:buNone/>
              <a:defRPr sz="3902"/>
            </a:lvl1pPr>
            <a:lvl2pPr marL="743361" indent="0" algn="ctr">
              <a:buNone/>
              <a:defRPr sz="3252"/>
            </a:lvl2pPr>
            <a:lvl3pPr marL="1486723" indent="0" algn="ctr">
              <a:buNone/>
              <a:defRPr sz="2927"/>
            </a:lvl3pPr>
            <a:lvl4pPr marL="2230084" indent="0" algn="ctr">
              <a:buNone/>
              <a:defRPr sz="2601"/>
            </a:lvl4pPr>
            <a:lvl5pPr marL="2973446" indent="0" algn="ctr">
              <a:buNone/>
              <a:defRPr sz="2601"/>
            </a:lvl5pPr>
            <a:lvl6pPr marL="3716807" indent="0" algn="ctr">
              <a:buNone/>
              <a:defRPr sz="2601"/>
            </a:lvl6pPr>
            <a:lvl7pPr marL="4460169" indent="0" algn="ctr">
              <a:buNone/>
              <a:defRPr sz="2601"/>
            </a:lvl7pPr>
            <a:lvl8pPr marL="5203530" indent="0" algn="ctr">
              <a:buNone/>
              <a:defRPr sz="2601"/>
            </a:lvl8pPr>
            <a:lvl9pPr marL="5946892" indent="0" algn="ctr">
              <a:buNone/>
              <a:defRPr sz="2601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320724-1352-C3A9-F2AA-0F161DCCBB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205" y="10370058"/>
            <a:ext cx="4623943" cy="276999"/>
          </a:xfrm>
        </p:spPr>
        <p:txBody>
          <a:bodyPr/>
          <a:lstStyle/>
          <a:p>
            <a:fld id="{9DB27797-C4C0-47AF-BA19-992DEFE64B0D}" type="datetime1">
              <a:rPr lang="ru-RU" smtClean="0"/>
              <a:t>28.02.2025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937268-0EAB-1169-A8B2-06180A88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35394" y="10370058"/>
            <a:ext cx="6433312" cy="276999"/>
          </a:xfr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BB2750-F058-A380-3743-696059B96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390910" y="10315496"/>
            <a:ext cx="423544" cy="346249"/>
          </a:xfrm>
        </p:spPr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831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81313" y="416616"/>
            <a:ext cx="19541475" cy="1241557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92049" y="1658173"/>
            <a:ext cx="19120002" cy="9226154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991164" lvl="0" indent="-82597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 sz="5203">
                <a:solidFill>
                  <a:srgbClr val="000000"/>
                </a:solidFill>
              </a:defRPr>
            </a:lvl1pPr>
            <a:lvl2pPr marL="1982328" lvl="1" indent="-743373">
              <a:spcBef>
                <a:spcPts val="3469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 sz="3902">
                <a:solidFill>
                  <a:srgbClr val="000000"/>
                </a:solidFill>
              </a:defRPr>
            </a:lvl2pPr>
            <a:lvl3pPr marL="2973492" lvl="2" indent="-688308">
              <a:spcBef>
                <a:spcPts val="3469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marL="3964656" lvl="3" indent="-688308">
              <a:spcBef>
                <a:spcPts val="3469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marL="4955819" lvl="4" indent="-688308">
              <a:spcBef>
                <a:spcPts val="3469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marL="5946983" lvl="5" indent="-688308">
              <a:spcBef>
                <a:spcPts val="3469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marL="6938147" lvl="6" indent="-688308">
              <a:spcBef>
                <a:spcPts val="3469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marL="7929311" lvl="7" indent="-688308">
              <a:spcBef>
                <a:spcPts val="3469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marL="8920475" lvl="8" indent="-688308">
              <a:spcBef>
                <a:spcPts val="3469"/>
              </a:spcBef>
              <a:spcAft>
                <a:spcPts val="3469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8627640" y="10109394"/>
            <a:ext cx="1206378" cy="85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l" rtl="0"/>
            <a:fld id="{00000000-1234-1234-1234-123412341234}" type="slidenum">
              <a:rPr lang="en" smtClean="0"/>
              <a:pPr algn="l" rtl="0"/>
              <a:t>‹#›</a:t>
            </a:fld>
            <a:endParaRPr lang="en"/>
          </a:p>
        </p:txBody>
      </p:sp>
      <p:cxnSp>
        <p:nvCxnSpPr>
          <p:cNvPr id="20" name="Google Shape;20;p4"/>
          <p:cNvCxnSpPr/>
          <p:nvPr/>
        </p:nvCxnSpPr>
        <p:spPr>
          <a:xfrm>
            <a:off x="492051" y="1459943"/>
            <a:ext cx="19120002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Google Shape;21;p4"/>
          <p:cNvSpPr txBox="1">
            <a:spLocks noGrp="1"/>
          </p:cNvSpPr>
          <p:nvPr>
            <p:ph type="title" idx="2"/>
          </p:nvPr>
        </p:nvSpPr>
        <p:spPr>
          <a:xfrm>
            <a:off x="504581" y="10389992"/>
            <a:ext cx="19094938" cy="5092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734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734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734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734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734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734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734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734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734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935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8791" y="460904"/>
            <a:ext cx="15844519" cy="1607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0" i="0">
                <a:solidFill>
                  <a:srgbClr val="0071B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564638"/>
            <a:ext cx="18093690" cy="73593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370058"/>
            <a:ext cx="6433312" cy="557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370058"/>
            <a:ext cx="4623943" cy="557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9390910" y="10315496"/>
            <a:ext cx="423544" cy="4102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92C5EB"/>
                </a:solidFill>
                <a:latin typeface="Segoe UI"/>
                <a:cs typeface="Segoe UI"/>
              </a:defRPr>
            </a:lvl1pPr>
          </a:lstStyle>
          <a:p>
            <a:pPr marL="205104">
              <a:lnSpc>
                <a:spcPct val="100000"/>
              </a:lnSpc>
              <a:spcBef>
                <a:spcPts val="3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g"/><Relationship Id="rId7" Type="http://schemas.openxmlformats.org/officeDocument/2006/relationships/image" Target="../media/image19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drkhanrizwan17/computer-vision-course" TargetMode="External"/><Relationship Id="rId2" Type="http://schemas.openxmlformats.org/officeDocument/2006/relationships/hyperlink" Target="https://pjreddie.com/courses/computer-vision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de.mipt.ru/courses-public/cv/public/-/blob/fall-2023/README.md" TargetMode="External"/><Relationship Id="rId4" Type="http://schemas.openxmlformats.org/officeDocument/2006/relationships/hyperlink" Target="https://github.com/ml-dafe/cv_mipt_majo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5AE178-3CA4-4E38-452D-6CA5374C33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7154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Вспомогательные материалы</a:t>
            </a:r>
          </a:p>
        </p:txBody>
      </p:sp>
    </p:spTree>
    <p:extLst>
      <p:ext uri="{BB962C8B-B14F-4D97-AF65-F5344CB8AC3E}">
        <p14:creationId xmlns:p14="http://schemas.microsoft.com/office/powerpoint/2010/main" val="2005273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8791" y="460904"/>
            <a:ext cx="15844519" cy="9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58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Свертка</a:t>
            </a:r>
            <a:r>
              <a:rPr lang="en-US" sz="5850" spc="-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58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147367DF-3C55-31F9-FC50-F5DA2AF07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775" y="2374900"/>
            <a:ext cx="7448550" cy="6589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8791" y="460904"/>
            <a:ext cx="15844519" cy="9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5850" spc="-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Дискретизация и квантование</a:t>
            </a:r>
            <a:r>
              <a:rPr lang="en-US" sz="5850" spc="-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58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object 42">
            <a:extLst>
              <a:ext uri="{FF2B5EF4-FFF2-40B4-BE49-F238E27FC236}">
                <a16:creationId xmlns:a16="http://schemas.microsoft.com/office/drawing/2014/main" id="{1674FC66-8250-3D86-6273-81341098FF2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15984" y="3005074"/>
            <a:ext cx="7033216" cy="5140452"/>
          </a:xfrm>
          <a:prstGeom prst="rect">
            <a:avLst/>
          </a:prstGeom>
        </p:spPr>
      </p:pic>
      <p:pic>
        <p:nvPicPr>
          <p:cNvPr id="11" name="object 42">
            <a:extLst>
              <a:ext uri="{FF2B5EF4-FFF2-40B4-BE49-F238E27FC236}">
                <a16:creationId xmlns:a16="http://schemas.microsoft.com/office/drawing/2014/main" id="{8767D3B5-97C4-6D72-9ED4-8717D7A4768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034814" y="2978645"/>
            <a:ext cx="9253302" cy="5228034"/>
          </a:xfrm>
          <a:prstGeom prst="rect">
            <a:avLst/>
          </a:prstGeom>
        </p:spPr>
      </p:pic>
      <p:sp>
        <p:nvSpPr>
          <p:cNvPr id="2" name="Google Shape;945;p113">
            <a:extLst>
              <a:ext uri="{FF2B5EF4-FFF2-40B4-BE49-F238E27FC236}">
                <a16:creationId xmlns:a16="http://schemas.microsoft.com/office/drawing/2014/main" id="{81DCFD0B-ED75-527C-163B-1807899306C1}"/>
              </a:ext>
            </a:extLst>
          </p:cNvPr>
          <p:cNvSpPr txBox="1"/>
          <p:nvPr/>
        </p:nvSpPr>
        <p:spPr>
          <a:xfrm>
            <a:off x="12944245" y="2104437"/>
            <a:ext cx="3679065" cy="92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00" tIns="198200" rIns="198200" bIns="198200" anchor="t" anchorCtr="0">
            <a:noAutofit/>
          </a:bodyPr>
          <a:lstStyle/>
          <a:p>
            <a:pPr algn="ctr" rtl="0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Квантование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Google Shape;945;p113">
            <a:extLst>
              <a:ext uri="{FF2B5EF4-FFF2-40B4-BE49-F238E27FC236}">
                <a16:creationId xmlns:a16="http://schemas.microsoft.com/office/drawing/2014/main" id="{40AB61DD-2983-2A61-5AEC-4D4C1FC912F8}"/>
              </a:ext>
            </a:extLst>
          </p:cNvPr>
          <p:cNvSpPr txBox="1"/>
          <p:nvPr/>
        </p:nvSpPr>
        <p:spPr>
          <a:xfrm>
            <a:off x="2493059" y="2104437"/>
            <a:ext cx="3679065" cy="92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00" tIns="198200" rIns="198200" bIns="198200" anchor="t" anchorCtr="0">
            <a:noAutofit/>
          </a:bodyPr>
          <a:lstStyle/>
          <a:p>
            <a:pPr algn="ctr" rtl="0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Дискретизация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590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8791" y="460904"/>
            <a:ext cx="15844519" cy="9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5850" spc="-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Эквализация</a:t>
            </a:r>
            <a:r>
              <a:rPr lang="ru-RU" sz="5850" spc="-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гистограммы</a:t>
            </a:r>
            <a:r>
              <a:rPr lang="en-US" sz="5850" spc="-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58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object 43">
            <a:extLst>
              <a:ext uri="{FF2B5EF4-FFF2-40B4-BE49-F238E27FC236}">
                <a16:creationId xmlns:a16="http://schemas.microsoft.com/office/drawing/2014/main" id="{DD0EA665-926B-BC03-2AF9-B95B3C6EB4F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03450" y="2609267"/>
            <a:ext cx="5047619" cy="2961905"/>
          </a:xfrm>
          <a:prstGeom prst="rect">
            <a:avLst/>
          </a:prstGeom>
        </p:spPr>
      </p:pic>
      <p:pic>
        <p:nvPicPr>
          <p:cNvPr id="3" name="object 44">
            <a:extLst>
              <a:ext uri="{FF2B5EF4-FFF2-40B4-BE49-F238E27FC236}">
                <a16:creationId xmlns:a16="http://schemas.microsoft.com/office/drawing/2014/main" id="{33E53D2C-03FE-DD93-93EC-4337AD03FAD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909050" y="1962366"/>
            <a:ext cx="9371429" cy="3642857"/>
          </a:xfrm>
          <a:prstGeom prst="rect">
            <a:avLst/>
          </a:prstGeom>
        </p:spPr>
      </p:pic>
      <p:pic>
        <p:nvPicPr>
          <p:cNvPr id="5" name="object 43">
            <a:extLst>
              <a:ext uri="{FF2B5EF4-FFF2-40B4-BE49-F238E27FC236}">
                <a16:creationId xmlns:a16="http://schemas.microsoft.com/office/drawing/2014/main" id="{4BAD50D5-2043-8EDC-ECB8-24D46C30271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233002" y="6499595"/>
            <a:ext cx="11638095" cy="29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949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8791" y="460904"/>
            <a:ext cx="15844519" cy="9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5850" spc="-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Фильтр Гаусса</a:t>
            </a:r>
            <a:endParaRPr sz="58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object 88">
            <a:extLst>
              <a:ext uri="{FF2B5EF4-FFF2-40B4-BE49-F238E27FC236}">
                <a16:creationId xmlns:a16="http://schemas.microsoft.com/office/drawing/2014/main" id="{9F21FB18-4844-1917-EBC2-54643493D94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93925" y="4028853"/>
            <a:ext cx="7400925" cy="5019675"/>
          </a:xfrm>
          <a:prstGeom prst="rect">
            <a:avLst/>
          </a:prstGeom>
        </p:spPr>
      </p:pic>
      <p:pic>
        <p:nvPicPr>
          <p:cNvPr id="5" name="object 89">
            <a:extLst>
              <a:ext uri="{FF2B5EF4-FFF2-40B4-BE49-F238E27FC236}">
                <a16:creationId xmlns:a16="http://schemas.microsoft.com/office/drawing/2014/main" id="{D9A1C67D-42EB-ECF8-1D4B-5FA2C7E0E1B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338050" y="5041900"/>
            <a:ext cx="3209524" cy="25809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F16AC9-EA3C-47BC-EC90-86269675CEEB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3509375" y="2668015"/>
                <a:ext cx="4770024" cy="11300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ru-RU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ru-RU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F16AC9-EA3C-47BC-EC90-86269675C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9375" y="2668015"/>
                <a:ext cx="4770024" cy="11300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6782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8791" y="460904"/>
            <a:ext cx="15844519" cy="9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850" spc="-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5850" spc="-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Детекция границ</a:t>
            </a:r>
            <a:endParaRPr sz="58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object 85">
            <a:extLst>
              <a:ext uri="{FF2B5EF4-FFF2-40B4-BE49-F238E27FC236}">
                <a16:creationId xmlns:a16="http://schemas.microsoft.com/office/drawing/2014/main" id="{822801F5-B9B2-DDAF-325E-3BFA8283CCC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36" y="2039710"/>
            <a:ext cx="9553575" cy="4657725"/>
          </a:xfrm>
          <a:prstGeom prst="rect">
            <a:avLst/>
          </a:prstGeom>
        </p:spPr>
      </p:pic>
      <p:pic>
        <p:nvPicPr>
          <p:cNvPr id="3" name="object 85">
            <a:extLst>
              <a:ext uri="{FF2B5EF4-FFF2-40B4-BE49-F238E27FC236}">
                <a16:creationId xmlns:a16="http://schemas.microsoft.com/office/drawing/2014/main" id="{B2D49065-AE8B-9AC6-A5CC-5F2232C6F95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163732" y="2088541"/>
            <a:ext cx="9553575" cy="4657725"/>
          </a:xfrm>
          <a:prstGeom prst="rect">
            <a:avLst/>
          </a:prstGeom>
        </p:spPr>
      </p:pic>
      <p:pic>
        <p:nvPicPr>
          <p:cNvPr id="9" name="object 84">
            <a:extLst>
              <a:ext uri="{FF2B5EF4-FFF2-40B4-BE49-F238E27FC236}">
                <a16:creationId xmlns:a16="http://schemas.microsoft.com/office/drawing/2014/main" id="{2799851D-2D11-63F4-53D1-540B600C2167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491079" y="8546419"/>
            <a:ext cx="2651400" cy="1767600"/>
          </a:xfrm>
          <a:prstGeom prst="rect">
            <a:avLst/>
          </a:prstGeom>
        </p:spPr>
      </p:pic>
      <p:pic>
        <p:nvPicPr>
          <p:cNvPr id="11" name="object 86">
            <a:extLst>
              <a:ext uri="{FF2B5EF4-FFF2-40B4-BE49-F238E27FC236}">
                <a16:creationId xmlns:a16="http://schemas.microsoft.com/office/drawing/2014/main" id="{1AD574AA-6993-D42C-9D29-B4FD6306FAAD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758116" y="8546419"/>
            <a:ext cx="2647907" cy="1767600"/>
          </a:xfrm>
          <a:prstGeom prst="rect">
            <a:avLst/>
          </a:prstGeom>
        </p:spPr>
      </p:pic>
      <p:pic>
        <p:nvPicPr>
          <p:cNvPr id="12" name="object 86">
            <a:extLst>
              <a:ext uri="{FF2B5EF4-FFF2-40B4-BE49-F238E27FC236}">
                <a16:creationId xmlns:a16="http://schemas.microsoft.com/office/drawing/2014/main" id="{02A3CF9A-6707-1BAB-7B1C-B7E84EE5A3FF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21660" y="8546419"/>
            <a:ext cx="2653760" cy="1769173"/>
          </a:xfrm>
          <a:prstGeom prst="rect">
            <a:avLst/>
          </a:prstGeom>
        </p:spPr>
      </p:pic>
      <p:pic>
        <p:nvPicPr>
          <p:cNvPr id="13" name="object 86">
            <a:extLst>
              <a:ext uri="{FF2B5EF4-FFF2-40B4-BE49-F238E27FC236}">
                <a16:creationId xmlns:a16="http://schemas.microsoft.com/office/drawing/2014/main" id="{DAE83960-A904-AFD6-AD9E-01687ED87260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3291057" y="8546419"/>
            <a:ext cx="2651401" cy="1767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7435BD-E586-D59A-61FD-F64FF665BF57}"/>
                  </a:ext>
                </a:extLst>
              </p:cNvPr>
              <p:cNvSpPr txBox="1"/>
              <p:nvPr/>
            </p:nvSpPr>
            <p:spPr>
              <a:xfrm>
                <a:off x="10736465" y="6034066"/>
                <a:ext cx="3544560" cy="537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𝑙𝑖𝑚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7435BD-E586-D59A-61FD-F64FF665B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6465" y="6034066"/>
                <a:ext cx="3544560" cy="5375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511487A-06E4-4F7E-E9D0-8D841B0C997B}"/>
                  </a:ext>
                </a:extLst>
              </p:cNvPr>
              <p:cNvSpPr txBox="1"/>
              <p:nvPr/>
            </p:nvSpPr>
            <p:spPr>
              <a:xfrm>
                <a:off x="10736465" y="6697435"/>
                <a:ext cx="3199017" cy="537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511487A-06E4-4F7E-E9D0-8D841B0C9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6465" y="6697435"/>
                <a:ext cx="3199017" cy="53751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Google Shape;945;p113">
            <a:extLst>
              <a:ext uri="{FF2B5EF4-FFF2-40B4-BE49-F238E27FC236}">
                <a16:creationId xmlns:a16="http://schemas.microsoft.com/office/drawing/2014/main" id="{F2D302EB-714D-9536-B224-A0411857B922}"/>
              </a:ext>
            </a:extLst>
          </p:cNvPr>
          <p:cNvSpPr txBox="1"/>
          <p:nvPr/>
        </p:nvSpPr>
        <p:spPr>
          <a:xfrm>
            <a:off x="12849985" y="7937500"/>
            <a:ext cx="3679065" cy="92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00" tIns="198200" rIns="198200" bIns="198200" anchor="t" anchorCtr="0">
            <a:noAutofit/>
          </a:bodyPr>
          <a:lstStyle/>
          <a:p>
            <a:pPr algn="ctr" rtl="0"/>
            <a:r>
              <a:rPr lang="ru-RU" sz="1900" dirty="0">
                <a:latin typeface="Arial" panose="020B0604020202020204" pitchFamily="34" charset="0"/>
                <a:cs typeface="Arial" panose="020B0604020202020204" pitchFamily="34" charset="0"/>
              </a:rPr>
              <a:t>Амплитуда градиента</a:t>
            </a:r>
            <a:endParaRPr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Google Shape;945;p113">
            <a:extLst>
              <a:ext uri="{FF2B5EF4-FFF2-40B4-BE49-F238E27FC236}">
                <a16:creationId xmlns:a16="http://schemas.microsoft.com/office/drawing/2014/main" id="{1B05DCA9-B386-B7EC-2B47-FE834E96AB60}"/>
              </a:ext>
            </a:extLst>
          </p:cNvPr>
          <p:cNvSpPr txBox="1"/>
          <p:nvPr/>
        </p:nvSpPr>
        <p:spPr>
          <a:xfrm>
            <a:off x="6242050" y="7937500"/>
            <a:ext cx="3679065" cy="92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00" tIns="198200" rIns="198200" bIns="198200" anchor="t" anchorCtr="0">
            <a:noAutofit/>
          </a:bodyPr>
          <a:lstStyle/>
          <a:p>
            <a:pPr algn="ctr" rtl="0"/>
            <a:r>
              <a:rPr lang="ru-RU" sz="1900" dirty="0">
                <a:latin typeface="Arial" panose="020B0604020202020204" pitchFamily="34" charset="0"/>
                <a:cs typeface="Arial" panose="020B0604020202020204" pitchFamily="34" charset="0"/>
              </a:rPr>
              <a:t>Градиент в направлении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Google Shape;945;p113">
            <a:extLst>
              <a:ext uri="{FF2B5EF4-FFF2-40B4-BE49-F238E27FC236}">
                <a16:creationId xmlns:a16="http://schemas.microsoft.com/office/drawing/2014/main" id="{3220FCB4-A98F-A224-2EA3-6A8D0ECE3B57}"/>
              </a:ext>
            </a:extLst>
          </p:cNvPr>
          <p:cNvSpPr txBox="1"/>
          <p:nvPr/>
        </p:nvSpPr>
        <p:spPr>
          <a:xfrm>
            <a:off x="9518650" y="7937500"/>
            <a:ext cx="3679065" cy="92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00" tIns="198200" rIns="198200" bIns="198200" anchor="t" anchorCtr="0">
            <a:noAutofit/>
          </a:bodyPr>
          <a:lstStyle/>
          <a:p>
            <a:pPr algn="ctr" rtl="0"/>
            <a:r>
              <a:rPr lang="ru-RU" sz="1900" dirty="0">
                <a:latin typeface="Arial" panose="020B0604020202020204" pitchFamily="34" charset="0"/>
                <a:cs typeface="Arial" panose="020B0604020202020204" pitchFamily="34" charset="0"/>
              </a:rPr>
              <a:t>Градиент в направлении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Google Shape;945;p113">
            <a:extLst>
              <a:ext uri="{FF2B5EF4-FFF2-40B4-BE49-F238E27FC236}">
                <a16:creationId xmlns:a16="http://schemas.microsoft.com/office/drawing/2014/main" id="{9827D592-94D9-4A67-B3F0-B8EABBC6CC82}"/>
              </a:ext>
            </a:extLst>
          </p:cNvPr>
          <p:cNvSpPr txBox="1"/>
          <p:nvPr/>
        </p:nvSpPr>
        <p:spPr>
          <a:xfrm>
            <a:off x="2965450" y="7937500"/>
            <a:ext cx="3679065" cy="92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00" tIns="198200" rIns="198200" bIns="198200" anchor="t" anchorCtr="0">
            <a:noAutofit/>
          </a:bodyPr>
          <a:lstStyle/>
          <a:p>
            <a:pPr algn="ctr" rtl="0"/>
            <a:r>
              <a:rPr lang="ru-RU" sz="1900" dirty="0">
                <a:latin typeface="Arial" panose="020B0604020202020204" pitchFamily="34" charset="0"/>
                <a:cs typeface="Arial" panose="020B0604020202020204" pitchFamily="34" charset="0"/>
              </a:rPr>
              <a:t>Исходное изображение</a:t>
            </a:r>
            <a:endParaRPr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819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3"/>
          <p:cNvSpPr txBox="1">
            <a:spLocks noGrp="1"/>
          </p:cNvSpPr>
          <p:nvPr>
            <p:ph type="title" idx="4294967295"/>
          </p:nvPr>
        </p:nvSpPr>
        <p:spPr>
          <a:xfrm>
            <a:off x="0" y="415925"/>
            <a:ext cx="19269075" cy="1243013"/>
          </a:xfrm>
          <a:prstGeom prst="rect">
            <a:avLst/>
          </a:prstGeom>
        </p:spPr>
        <p:txBody>
          <a:bodyPr spcFirstLastPara="1" wrap="square" lIns="198200" tIns="198200" rIns="198200" bIns="198200" anchor="b" anchorCtr="0">
            <a:noAutofit/>
          </a:bodyPr>
          <a:lstStyle/>
          <a:p>
            <a:pPr algn="l"/>
            <a:r>
              <a:rPr lang="ru-RU" sz="58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Фильтр </a:t>
            </a:r>
            <a:r>
              <a:rPr lang="ru-RU" sz="58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Собеля</a:t>
            </a:r>
            <a:r>
              <a:rPr lang="ru-RU" sz="58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(сглаживание и производная)</a:t>
            </a:r>
            <a:endParaRPr sz="58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89" name="Google Shape;38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4885" y="2318951"/>
            <a:ext cx="16134338" cy="8071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939" y="6494917"/>
            <a:ext cx="5592752" cy="4404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" name="Google Shape;952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8633" y="2318951"/>
            <a:ext cx="9686807" cy="8071046"/>
          </a:xfrm>
          <a:prstGeom prst="rect">
            <a:avLst/>
          </a:prstGeom>
          <a:noFill/>
          <a:ln>
            <a:noFill/>
          </a:ln>
        </p:spPr>
      </p:pic>
      <p:sp>
        <p:nvSpPr>
          <p:cNvPr id="953" name="Google Shape;953;p114"/>
          <p:cNvSpPr/>
          <p:nvPr/>
        </p:nvSpPr>
        <p:spPr>
          <a:xfrm>
            <a:off x="4705696" y="3197387"/>
            <a:ext cx="3292793" cy="1489012"/>
          </a:xfrm>
          <a:custGeom>
            <a:avLst/>
            <a:gdLst/>
            <a:ahLst/>
            <a:cxnLst/>
            <a:rect l="l" t="t" r="r" b="b"/>
            <a:pathLst>
              <a:path w="59262" h="24121" extrusionOk="0">
                <a:moveTo>
                  <a:pt x="0" y="6976"/>
                </a:moveTo>
                <a:cubicBezTo>
                  <a:pt x="7951" y="5920"/>
                  <a:pt x="37830" y="-2217"/>
                  <a:pt x="47707" y="640"/>
                </a:cubicBezTo>
                <a:cubicBezTo>
                  <a:pt x="57584" y="3498"/>
                  <a:pt x="57336" y="20208"/>
                  <a:pt x="59262" y="24121"/>
                </a:cubicBezTo>
              </a:path>
            </a:pathLst>
          </a:cu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sp>
      <p:sp>
        <p:nvSpPr>
          <p:cNvPr id="954" name="Google Shape;954;p114"/>
          <p:cNvSpPr txBox="1"/>
          <p:nvPr/>
        </p:nvSpPr>
        <p:spPr>
          <a:xfrm>
            <a:off x="1223760" y="2747327"/>
            <a:ext cx="4706730" cy="92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00" tIns="198200" rIns="198200" bIns="198200" anchor="t" anchorCtr="0">
            <a:noAutofit/>
          </a:bodyPr>
          <a:lstStyle/>
          <a:p>
            <a:pPr algn="ctr" rtl="0"/>
            <a:r>
              <a:rPr lang="en" sz="2800" dirty="0"/>
              <a:t>This point is:</a:t>
            </a:r>
            <a:endParaRPr sz="2800" dirty="0"/>
          </a:p>
          <a:p>
            <a:pPr algn="ctr" rtl="0"/>
            <a:r>
              <a:rPr lang="en" sz="2800" dirty="0"/>
              <a:t>(-.25, -.25)</a:t>
            </a:r>
            <a:endParaRPr sz="2800" dirty="0"/>
          </a:p>
        </p:txBody>
      </p:sp>
      <p:sp>
        <p:nvSpPr>
          <p:cNvPr id="2" name="Google Shape;959;p115">
            <a:extLst>
              <a:ext uri="{FF2B5EF4-FFF2-40B4-BE49-F238E27FC236}">
                <a16:creationId xmlns:a16="http://schemas.microsoft.com/office/drawing/2014/main" id="{7B63D5E8-EFB2-4519-99E8-D74C3D55F1A2}"/>
              </a:ext>
            </a:extLst>
          </p:cNvPr>
          <p:cNvSpPr txBox="1">
            <a:spLocks/>
          </p:cNvSpPr>
          <p:nvPr/>
        </p:nvSpPr>
        <p:spPr>
          <a:xfrm>
            <a:off x="0" y="415925"/>
            <a:ext cx="19269075" cy="1243013"/>
          </a:xfrm>
          <a:prstGeom prst="rect">
            <a:avLst/>
          </a:prstGeom>
        </p:spPr>
        <p:txBody>
          <a:bodyPr spcFirstLastPara="1" wrap="square" lIns="198200" tIns="198200" rIns="198200" bIns="198200" anchor="b" anchorCtr="0">
            <a:noAutofit/>
          </a:bodyPr>
          <a:lstStyle>
            <a:lvl1pPr>
              <a:defRPr sz="6900" b="0" i="0">
                <a:solidFill>
                  <a:srgbClr val="0071BB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algn="l"/>
            <a:r>
              <a:rPr lang="ru-RU" sz="58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Проблема интерполяции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115"/>
          <p:cNvSpPr txBox="1">
            <a:spLocks noGrp="1"/>
          </p:cNvSpPr>
          <p:nvPr>
            <p:ph type="title" idx="4294967295"/>
          </p:nvPr>
        </p:nvSpPr>
        <p:spPr>
          <a:xfrm>
            <a:off x="0" y="415925"/>
            <a:ext cx="19269075" cy="1243013"/>
          </a:xfrm>
          <a:prstGeom prst="rect">
            <a:avLst/>
          </a:prstGeom>
        </p:spPr>
        <p:txBody>
          <a:bodyPr spcFirstLastPara="1" wrap="square" lIns="198200" tIns="198200" rIns="198200" bIns="198200" anchor="b" anchorCtr="0">
            <a:noAutofit/>
          </a:bodyPr>
          <a:lstStyle/>
          <a:p>
            <a:pPr algn="l"/>
            <a:r>
              <a:rPr lang="ru-RU" sz="58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Интерполяция по ближайшему соседу</a:t>
            </a:r>
            <a:endParaRPr sz="58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62" name="Google Shape;962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3850" y="2318949"/>
            <a:ext cx="8071042" cy="8071042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63" name="Google Shape;963;p1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7250" y="1658938"/>
            <a:ext cx="1321553" cy="1321553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131"/>
          <p:cNvSpPr txBox="1">
            <a:spLocks noGrp="1"/>
          </p:cNvSpPr>
          <p:nvPr>
            <p:ph type="title" idx="4294967295"/>
          </p:nvPr>
        </p:nvSpPr>
        <p:spPr>
          <a:xfrm>
            <a:off x="0" y="415925"/>
            <a:ext cx="19269075" cy="1243013"/>
          </a:xfrm>
          <a:prstGeom prst="rect">
            <a:avLst/>
          </a:prstGeom>
        </p:spPr>
        <p:txBody>
          <a:bodyPr spcFirstLastPara="1" wrap="square" lIns="198200" tIns="198200" rIns="198200" bIns="198200" anchor="b" anchorCtr="0">
            <a:noAutofit/>
          </a:bodyPr>
          <a:lstStyle/>
          <a:p>
            <a:pPr algn="l"/>
            <a:r>
              <a:rPr lang="ru-RU" sz="58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Билинейная интерполяция</a:t>
            </a:r>
            <a:endParaRPr sz="58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0" name="Google Shape;1090;p131"/>
          <p:cNvSpPr txBox="1">
            <a:spLocks noGrp="1"/>
          </p:cNvSpPr>
          <p:nvPr>
            <p:ph type="body" idx="4294967295"/>
          </p:nvPr>
        </p:nvSpPr>
        <p:spPr>
          <a:xfrm>
            <a:off x="0" y="1658938"/>
            <a:ext cx="9513888" cy="9224962"/>
          </a:xfrm>
          <a:prstGeom prst="rect">
            <a:avLst/>
          </a:prstGeom>
        </p:spPr>
        <p:txBody>
          <a:bodyPr spcFirstLastPara="1" wrap="square" lIns="198200" tIns="198200" rIns="198200" bIns="198200" anchor="t" anchorCtr="0">
            <a:noAutofit/>
          </a:bodyPr>
          <a:lstStyle/>
          <a:p>
            <a:pPr marL="0" indent="0" algn="l" rtl="0">
              <a:buNone/>
            </a:pPr>
            <a:r>
              <a:rPr lang="en" sz="3200" dirty="0">
                <a:latin typeface="Arial" panose="020B0604020202020204" pitchFamily="34" charset="0"/>
                <a:cs typeface="Arial" panose="020B0604020202020204" pitchFamily="34" charset="0"/>
              </a:rPr>
              <a:t>q1 = V1*d2 + V2*d1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r>
              <a:rPr lang="en" sz="3200" dirty="0">
                <a:latin typeface="Arial" panose="020B0604020202020204" pitchFamily="34" charset="0"/>
                <a:cs typeface="Arial" panose="020B0604020202020204" pitchFamily="34" charset="0"/>
              </a:rPr>
              <a:t>q2 = V3*d2 + V4*d1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r>
              <a:rPr lang="en" sz="3200" dirty="0">
                <a:latin typeface="Arial" panose="020B0604020202020204" pitchFamily="34" charset="0"/>
                <a:cs typeface="Arial" panose="020B0604020202020204" pitchFamily="34" charset="0"/>
              </a:rPr>
              <a:t>q = q1*d4 + q2*d3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spcBef>
                <a:spcPts val="2168"/>
              </a:spcBef>
              <a:buNone/>
            </a:pPr>
            <a:r>
              <a:rPr lang="en" sz="3200" dirty="0">
                <a:latin typeface="Arial" panose="020B0604020202020204" pitchFamily="34" charset="0"/>
                <a:cs typeface="Arial" panose="020B0604020202020204" pitchFamily="34" charset="0"/>
              </a:rPr>
              <a:t>Equivalent: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spcBef>
                <a:spcPts val="2168"/>
              </a:spcBef>
              <a:buNone/>
            </a:pPr>
            <a:r>
              <a:rPr lang="en" sz="3200" dirty="0">
                <a:latin typeface="Arial" panose="020B0604020202020204" pitchFamily="34" charset="0"/>
                <a:cs typeface="Arial" panose="020B0604020202020204" pitchFamily="34" charset="0"/>
              </a:rPr>
              <a:t>q = q1*d4 + q2*d3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r>
              <a:rPr lang="en" sz="3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 = (V1*d2 + V2*d1)*d4 + (V3*d2 + V4*d1)*d3 (subst)</a:t>
            </a:r>
            <a:endParaRPr sz="32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r>
              <a:rPr lang="en" sz="3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 = V1*d2*d4 + V2*d1*d4 + V3*d2*d3 + V4*d1*d3 (distribution)</a:t>
            </a:r>
            <a:endParaRPr sz="32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endParaRPr sz="32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r>
              <a:rPr lang="en" sz="3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Recall:</a:t>
            </a:r>
            <a:endParaRPr sz="32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r>
              <a:rPr lang="en" sz="3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A1 = d2*d4</a:t>
            </a:r>
            <a:endParaRPr sz="32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r>
              <a:rPr lang="en" sz="3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A2 = d1*d4</a:t>
            </a:r>
            <a:endParaRPr sz="32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r>
              <a:rPr lang="en" sz="3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A3 = d2*d3</a:t>
            </a:r>
            <a:endParaRPr sz="32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r>
              <a:rPr lang="en" sz="3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A4 = d1*d3</a:t>
            </a:r>
            <a:endParaRPr sz="32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endParaRPr sz="32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r>
              <a:rPr lang="en" sz="3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 = V1*A1 + V2*A2 + V3*A3 + V4*A4</a:t>
            </a:r>
            <a:endParaRPr sz="32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endParaRPr sz="32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endParaRPr sz="32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spcAft>
                <a:spcPts val="2168"/>
              </a:spcAft>
              <a:buNone/>
            </a:pP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91" name="Google Shape;1091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8231" y="2310416"/>
            <a:ext cx="9284687" cy="7921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132"/>
          <p:cNvSpPr txBox="1">
            <a:spLocks noGrp="1"/>
          </p:cNvSpPr>
          <p:nvPr>
            <p:ph type="title" idx="4294967295"/>
          </p:nvPr>
        </p:nvSpPr>
        <p:spPr>
          <a:xfrm>
            <a:off x="0" y="415925"/>
            <a:ext cx="19269075" cy="1243013"/>
          </a:xfrm>
          <a:prstGeom prst="rect">
            <a:avLst/>
          </a:prstGeom>
        </p:spPr>
        <p:txBody>
          <a:bodyPr spcFirstLastPara="1" wrap="square" lIns="198200" tIns="198200" rIns="198200" bIns="198200" anchor="b" anchorCtr="0">
            <a:noAutofit/>
          </a:bodyPr>
          <a:lstStyle/>
          <a:p>
            <a:pPr algn="l"/>
            <a:r>
              <a:rPr lang="ru-RU" sz="58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Билинейная интерполяция</a:t>
            </a:r>
            <a:endParaRPr sz="58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99" name="Google Shape;1099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9014" y="2318949"/>
            <a:ext cx="8071046" cy="8071046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00" name="Google Shape;1100;p1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9650" y="1658938"/>
            <a:ext cx="1321553" cy="1321553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133"/>
          <p:cNvSpPr txBox="1">
            <a:spLocks noGrp="1"/>
          </p:cNvSpPr>
          <p:nvPr>
            <p:ph type="title" idx="4294967295"/>
          </p:nvPr>
        </p:nvSpPr>
        <p:spPr>
          <a:xfrm>
            <a:off x="0" y="415925"/>
            <a:ext cx="19269075" cy="1243013"/>
          </a:xfrm>
          <a:prstGeom prst="rect">
            <a:avLst/>
          </a:prstGeom>
        </p:spPr>
        <p:txBody>
          <a:bodyPr spcFirstLastPara="1" wrap="square" lIns="198200" tIns="198200" rIns="198200" bIns="198200" anchor="b" anchorCtr="0">
            <a:noAutofit/>
          </a:bodyPr>
          <a:lstStyle/>
          <a:p>
            <a:pPr algn="l"/>
            <a:r>
              <a:rPr lang="ru-RU" sz="58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Бикубическая интерполяция</a:t>
            </a:r>
            <a:endParaRPr sz="58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7" name="Google Shape;1107;p133"/>
          <p:cNvSpPr txBox="1">
            <a:spLocks noGrp="1"/>
          </p:cNvSpPr>
          <p:nvPr>
            <p:ph type="body" idx="4294967295"/>
          </p:nvPr>
        </p:nvSpPr>
        <p:spPr>
          <a:xfrm>
            <a:off x="0" y="1658938"/>
            <a:ext cx="10024711" cy="9224962"/>
          </a:xfrm>
          <a:prstGeom prst="rect">
            <a:avLst/>
          </a:prstGeom>
        </p:spPr>
        <p:txBody>
          <a:bodyPr spcFirstLastPara="1" wrap="square" lIns="198200" tIns="198200" rIns="198200" bIns="198200" anchor="t" anchorCtr="0">
            <a:noAutofit/>
          </a:bodyPr>
          <a:lstStyle/>
          <a:p>
            <a:pPr marL="571500" indent="-571500" algn="l" rtl="0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" sz="3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cubic interpolation of 4 cubic interpolations</a:t>
            </a:r>
            <a:endParaRPr sz="36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l" rtl="0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" sz="3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Smoother than bilinear, no “star”</a:t>
            </a:r>
            <a:endParaRPr sz="36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l" rtl="0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" sz="3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nearest neighbors</a:t>
            </a:r>
            <a:endParaRPr sz="36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l" rtl="0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" sz="3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Fit 3rd order poly:</a:t>
            </a:r>
            <a:endParaRPr sz="36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algn="l" rtl="0">
              <a:spcBef>
                <a:spcPts val="0"/>
              </a:spcBef>
              <a:buClr>
                <a:schemeClr val="dk1"/>
              </a:buClr>
              <a:buSzPts val="1400"/>
            </a:pPr>
            <a:r>
              <a:rPr lang="en" sz="3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f(x) = a + bx + cx^2 + dx^3</a:t>
            </a:r>
            <a:endParaRPr sz="36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l" rtl="0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" sz="3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Interpolate along axis</a:t>
            </a:r>
            <a:endParaRPr sz="36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l" rtl="0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" sz="3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Fit another poly to interpolated values</a:t>
            </a:r>
            <a:endParaRPr sz="36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08" name="Google Shape;1108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8554" y="1658147"/>
            <a:ext cx="9244364" cy="5674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134"/>
          <p:cNvSpPr txBox="1">
            <a:spLocks noGrp="1"/>
          </p:cNvSpPr>
          <p:nvPr>
            <p:ph type="title" idx="4294967295"/>
          </p:nvPr>
        </p:nvSpPr>
        <p:spPr>
          <a:xfrm>
            <a:off x="0" y="415925"/>
            <a:ext cx="19269075" cy="1243013"/>
          </a:xfrm>
          <a:prstGeom prst="rect">
            <a:avLst/>
          </a:prstGeom>
        </p:spPr>
        <p:txBody>
          <a:bodyPr spcFirstLastPara="1" wrap="square" lIns="198200" tIns="198200" rIns="198200" bIns="198200" anchor="b" anchorCtr="0">
            <a:noAutofit/>
          </a:bodyPr>
          <a:lstStyle/>
          <a:p>
            <a:pPr algn="l"/>
            <a:r>
              <a:rPr lang="ru-RU" sz="58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Бикубическая</a:t>
            </a:r>
            <a:r>
              <a:rPr lang="en" sz="58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vs </a:t>
            </a:r>
            <a:r>
              <a:rPr lang="ru-RU" sz="58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Билинейная</a:t>
            </a:r>
            <a:endParaRPr sz="58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15" name="Google Shape;1115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940" y="1988563"/>
            <a:ext cx="8071046" cy="8071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6" name="Google Shape;1116;p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95125" y="1988563"/>
            <a:ext cx="8071046" cy="8071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ECCE1FE-A4A1-92F8-8E8C-1637BFAAD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257" y="593667"/>
            <a:ext cx="17097587" cy="2155267"/>
          </a:xfrm>
        </p:spPr>
        <p:txBody>
          <a:bodyPr>
            <a:normAutofit/>
          </a:bodyPr>
          <a:lstStyle/>
          <a:p>
            <a:r>
              <a:rPr lang="ru-RU" sz="6504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Полезные ресурсы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18ED8384-5379-6D99-B399-029D94FFA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3257" y="2968331"/>
            <a:ext cx="17845193" cy="707495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227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https://pjreddie.com/courses/computer-vision/</a:t>
            </a:r>
            <a:endParaRPr lang="en-US" sz="4227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227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https://sites.google.com/site/drkhanrizwan17/computer-vision-course</a:t>
            </a:r>
            <a:endParaRPr lang="ru-RU" sz="4227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227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https://github.com/ml-dafe/cv_mipt_major</a:t>
            </a:r>
            <a:endParaRPr lang="ru-RU" sz="4227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227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https://code.mipt.ru/courses-public/cv/public/-/blob/fall-2023/README.md</a:t>
            </a:r>
            <a:endParaRPr lang="ru-RU" sz="4227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ru-RU" sz="4227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227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227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B717D8-25E3-D292-69B8-11AC6382A5B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9390910" y="10315496"/>
            <a:ext cx="713190" cy="346249"/>
          </a:xfrm>
        </p:spPr>
        <p:txBody>
          <a:bodyPr/>
          <a:lstStyle/>
          <a:p>
            <a:pPr marL="205104">
              <a:lnSpc>
                <a:spcPct val="100000"/>
              </a:lnSpc>
              <a:spcBef>
                <a:spcPts val="305"/>
              </a:spcBef>
            </a:pPr>
            <a:fld id="{81D60167-4931-47E6-BA6A-407CBD079E47}" type="slidenum">
              <a:rPr lang="ru-RU" spc="-5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ru-RU" spc="-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512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</TotalTime>
  <Words>310</Words>
  <Application>Microsoft Office PowerPoint</Application>
  <PresentationFormat>Произвольный</PresentationFormat>
  <Paragraphs>54</Paragraphs>
  <Slides>14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Arial Black</vt:lpstr>
      <vt:lpstr>Calibri</vt:lpstr>
      <vt:lpstr>Cambria Math</vt:lpstr>
      <vt:lpstr>Segoe UI</vt:lpstr>
      <vt:lpstr>Office Theme</vt:lpstr>
      <vt:lpstr>Вспомогательные материалы</vt:lpstr>
      <vt:lpstr>Свертка </vt:lpstr>
      <vt:lpstr>Дискретизация и квантование </vt:lpstr>
      <vt:lpstr>Эквализация гистограммы </vt:lpstr>
      <vt:lpstr>Фильтр Гаусса</vt:lpstr>
      <vt:lpstr> Детекция границ</vt:lpstr>
      <vt:lpstr>Фильтр Собеля (сглаживание и производная)</vt:lpstr>
      <vt:lpstr>Презентация PowerPoint</vt:lpstr>
      <vt:lpstr>Интерполяция по ближайшему соседу</vt:lpstr>
      <vt:lpstr>Билинейная интерполяция</vt:lpstr>
      <vt:lpstr>Билинейная интерполяция</vt:lpstr>
      <vt:lpstr>Бикубическая интерполяция</vt:lpstr>
      <vt:lpstr>Бикубическая vs Билинейная</vt:lpstr>
      <vt:lpstr>Полезные ресурсы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Фильтрация изображений</dc:title>
  <dc:creator>Marina</dc:creator>
  <cp:lastModifiedBy>Кумов Вячеслав Сергеевич</cp:lastModifiedBy>
  <cp:revision>76</cp:revision>
  <dcterms:created xsi:type="dcterms:W3CDTF">2025-02-20T06:57:32Z</dcterms:created>
  <dcterms:modified xsi:type="dcterms:W3CDTF">2025-02-28T18:15:48Z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2021-02-25T00:00:00Z</vt:filetime>
  </property>
  <property fmtid="{D5CDD505-2E9C-101B-9397-08002B2CF9AE}" pid="3" name="Creator">
    <vt:lpwstr>Microsoft® PowerPoint® для Microsoft 365</vt:lpwstr>
  </property>
  <property fmtid="{D5CDD505-2E9C-101B-9397-08002B2CF9AE}" pid="4" name="LastSaved">
    <vt:filetime>2025-02-20T00:00:00Z</vt:filetime>
  </property>
  <property fmtid="{D5CDD505-2E9C-101B-9397-08002B2CF9AE}" pid="5" name="Producer">
    <vt:lpwstr>Microsoft® PowerPoint® для Microsoft 365</vt:lpwstr>
  </property>
</Properties>
</file>